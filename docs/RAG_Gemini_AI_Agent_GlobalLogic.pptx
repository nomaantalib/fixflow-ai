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8CFF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548640"/>
            <a:ext cx="2560320" cy="2560320"/>
          </a:xfrm>
          <a:prstGeom prst="ellipse">
            <a:avLst/>
          </a:prstGeom>
          <a:solidFill>
            <a:srgbClr val="1346A3">
              <a:alpha val="25000"/>
            </a:srgbClr>
          </a:solidFill>
          <a:ln w="12700">
            <a:solidFill>
              <a:srgbClr val="1346A3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91440"/>
            <a:ext cx="1645920" cy="1645920"/>
          </a:xfrm>
          <a:prstGeom prst="ellipse">
            <a:avLst/>
          </a:prstGeom>
          <a:solidFill>
            <a:srgbClr val="2D8CFF">
              <a:alpha val="20000"/>
            </a:srgbClr>
          </a:solidFill>
          <a:ln w="12700">
            <a:solidFill>
              <a:srgbClr val="2D8CF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3840480"/>
            <a:ext cx="1280160" cy="1280160"/>
          </a:xfrm>
          <a:prstGeom prst="ellipse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731520"/>
            <a:ext cx="2560320" cy="292608"/>
          </a:xfrm>
          <a:prstGeom prst="rect">
            <a:avLst>
              <a:gd name="adj" fmla="val 15625"/>
            </a:avLst>
          </a:prstGeom>
          <a:solidFill>
            <a:srgbClr val="1346A3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7315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BANKING AI SOLUTION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 + Gemini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57200" y="2084832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D8C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Agent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57200" y="3127248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</a:rPr>
              <a:t>Intelligent Monitoring, Incident Resolution &amp; Predictive Analytics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</a:rPr>
              <a:t>for Enterprise Banking Operations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64592" y="4709160"/>
            <a:ext cx="8979408" cy="434340"/>
          </a:xfrm>
          <a:prstGeom prst="rect">
            <a:avLst/>
          </a:prstGeom>
          <a:solidFill>
            <a:srgbClr val="13204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Production-Grade Architecture  |  Zero-Cost Deployment  |  Enterprise Security Compliant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0" y="4709160"/>
            <a:ext cx="210312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8BDF8"/>
                </a:solidFill>
              </a:rPr>
              <a:t>Presented to GlobalLogic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Problem We Solve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D8CFF"/>
                </a:solidFill>
              </a:rPr>
              <a:t>02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8346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83464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Shape 5"/>
          <p:cNvSpPr/>
          <p:nvPr/>
        </p:nvSpPr>
        <p:spPr>
          <a:xfrm>
            <a:off x="1280160" y="1280160"/>
            <a:ext cx="822960" cy="822960"/>
          </a:xfrm>
          <a:prstGeom prst="ellipse">
            <a:avLst/>
          </a:prstGeom>
          <a:solidFill>
            <a:srgbClr val="DC2626">
              <a:alpha val="12000"/>
            </a:srgbClr>
          </a:solidFill>
          <a:ln w="12700">
            <a:solidFill>
              <a:srgbClr val="DC2626">
                <a:alpha val="12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37160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1945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Reactive Incident Management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38912" y="2834640"/>
            <a:ext cx="25054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Banking pipelines fail silently. Teams only know after customers complain — costing hours of manual triage and SLA breaches.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46120" y="1097280"/>
            <a:ext cx="28346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097280"/>
            <a:ext cx="283464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Shape 10"/>
          <p:cNvSpPr/>
          <p:nvPr/>
        </p:nvSpPr>
        <p:spPr>
          <a:xfrm>
            <a:off x="4251960" y="1280160"/>
            <a:ext cx="822960" cy="822960"/>
          </a:xfrm>
          <a:prstGeom prst="ellipse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12000"/>
              </a:srgbClr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371600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83280" y="21945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Knowledge Silos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410712" y="2834640"/>
            <a:ext cx="25054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Runbooks, error docs, and incident history live in separate systems. Engineers waste 40% of resolution time just finding the right procedure.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217920" y="1097280"/>
            <a:ext cx="28346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17920" y="1097280"/>
            <a:ext cx="2834640" cy="73152"/>
          </a:xfrm>
          <a:prstGeom prst="rect">
            <a:avLst/>
          </a:prstGeom>
          <a:solidFill>
            <a:srgbClr val="1346A3"/>
          </a:solidFill>
          <a:ln/>
        </p:spPr>
      </p:sp>
      <p:sp>
        <p:nvSpPr>
          <p:cNvPr id="19" name="Shape 15"/>
          <p:cNvSpPr/>
          <p:nvPr/>
        </p:nvSpPr>
        <p:spPr>
          <a:xfrm>
            <a:off x="7223760" y="1280160"/>
            <a:ext cx="822960" cy="822960"/>
          </a:xfrm>
          <a:prstGeom prst="ellipse">
            <a:avLst/>
          </a:prstGeom>
          <a:solidFill>
            <a:srgbClr val="1346A3">
              <a:alpha val="12000"/>
            </a:srgbClr>
          </a:solidFill>
          <a:ln w="12700">
            <a:solidFill>
              <a:srgbClr val="1346A3">
                <a:alpha val="12000"/>
              </a:srgbClr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371600"/>
            <a:ext cx="640080" cy="6400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55080" y="21945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No Predictive Capability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382512" y="2834640"/>
            <a:ext cx="25054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Patterns like 'Monday DLQ spikes' or 'month-end ETL overload' repeat endlessly. No system learns from history to prevent the next incident.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20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Solution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D8CFF"/>
                </a:solidFill>
              </a:rPr>
              <a:t>03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103120" cy="566928"/>
          </a:xfrm>
          <a:prstGeom prst="rect">
            <a:avLst/>
          </a:prstGeom>
          <a:solidFill>
            <a:srgbClr val="0EA5E9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972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USER / DASHBOARD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1316736"/>
            <a:ext cx="502920" cy="12801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" name="Text 6"/>
          <p:cNvSpPr/>
          <p:nvPr/>
        </p:nvSpPr>
        <p:spPr>
          <a:xfrm>
            <a:off x="2706624" y="1261872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097280"/>
            <a:ext cx="2103120" cy="566928"/>
          </a:xfrm>
          <a:prstGeom prst="rect">
            <a:avLst/>
          </a:prstGeom>
          <a:solidFill>
            <a:srgbClr val="2D8C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10972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RAG ENGINE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316736"/>
            <a:ext cx="502920" cy="12801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2" name="Text 10"/>
          <p:cNvSpPr/>
          <p:nvPr/>
        </p:nvSpPr>
        <p:spPr>
          <a:xfrm>
            <a:off x="5038344" y="1261872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37760" y="1097280"/>
            <a:ext cx="2103120" cy="566928"/>
          </a:xfrm>
          <a:prstGeom prst="rect">
            <a:avLst/>
          </a:prstGeom>
          <a:solidFill>
            <a:srgbClr val="1346A3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10972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KNOWLEDGE BASE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40880" y="1316736"/>
            <a:ext cx="502920" cy="12801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6" name="Text 14"/>
          <p:cNvSpPr/>
          <p:nvPr/>
        </p:nvSpPr>
        <p:spPr>
          <a:xfrm>
            <a:off x="7370064" y="1261872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69480" y="1097280"/>
            <a:ext cx="2103120" cy="566928"/>
          </a:xfrm>
          <a:prstGeom prst="rect">
            <a:avLst/>
          </a:prstGeom>
          <a:solidFill>
            <a:srgbClr val="38BDF8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69480" y="10972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GEMINI 1.5 FLASH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1920240"/>
            <a:ext cx="4114800" cy="1353312"/>
          </a:xfrm>
          <a:prstGeom prst="rect">
            <a:avLst/>
          </a:prstGeom>
          <a:solidFill>
            <a:srgbClr val="13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1920240"/>
            <a:ext cx="109728" cy="135331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" y="2011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Live Dashboard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" y="235915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Real-time incident monitoring with auto-fix triggers and AI plain-English explanations after each resolution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1920240"/>
            <a:ext cx="4114800" cy="1353312"/>
          </a:xfrm>
          <a:prstGeom prst="rect">
            <a:avLst/>
          </a:prstGeom>
          <a:solidFill>
            <a:srgbClr val="13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1920240"/>
            <a:ext cx="109728" cy="1353312"/>
          </a:xfrm>
          <a:prstGeom prst="rect">
            <a:avLst/>
          </a:prstGeom>
          <a:solidFill>
            <a:srgbClr val="2D8CFF"/>
          </a:solidFill>
          <a:ln/>
        </p:spPr>
      </p:sp>
      <p:sp>
        <p:nvSpPr>
          <p:cNvPr id="25" name="Text 23"/>
          <p:cNvSpPr/>
          <p:nvPr/>
        </p:nvSpPr>
        <p:spPr>
          <a:xfrm>
            <a:off x="4910328" y="2011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Chat Agent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10328" y="235915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Natural language Q&amp;A over your banking docs — ask about DLQ spikes, escalation processes, or error codes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3429000"/>
            <a:ext cx="4114800" cy="1353312"/>
          </a:xfrm>
          <a:prstGeom prst="rect">
            <a:avLst/>
          </a:prstGeom>
          <a:solidFill>
            <a:srgbClr val="13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429000"/>
            <a:ext cx="109728" cy="1353312"/>
          </a:xfrm>
          <a:prstGeom prst="rect">
            <a:avLst/>
          </a:prstGeom>
          <a:solidFill>
            <a:srgbClr val="1346A3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" y="3520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Predictive Engine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5488" y="386791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Gemini reads incident history and forecasts breakpoints — before they become customer-facing failures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3429000"/>
            <a:ext cx="4114800" cy="1353312"/>
          </a:xfrm>
          <a:prstGeom prst="rect">
            <a:avLst/>
          </a:prstGeom>
          <a:solidFill>
            <a:srgbClr val="13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429000"/>
            <a:ext cx="109728" cy="135331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3" name="Text 31"/>
          <p:cNvSpPr/>
          <p:nvPr/>
        </p:nvSpPr>
        <p:spPr>
          <a:xfrm>
            <a:off x="4910328" y="3520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RAG Knowledge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10328" y="386791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4 embedded knowledge sources: Error docs, runbooks, incident history, sample metrics — searched before every response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How RAG Works — Simply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D8CFF"/>
                </a:solidFill>
              </a:rPr>
              <a:t>04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502920"/>
          </a:xfrm>
          <a:prstGeom prst="rect">
            <a:avLst/>
          </a:prstGeom>
          <a:solidFill>
            <a:srgbClr val="0A1628">
              <a:alpha val="9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</a:rPr>
              <a:t>💡  Before Gemini answers anything, it searches 4 domain-specific 'books' — making responses specific to YOUR system, not generic AI guesses.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" y="1737360"/>
            <a:ext cx="4114800" cy="13533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737360"/>
            <a:ext cx="109728" cy="135331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828800"/>
            <a:ext cx="384048" cy="384048"/>
          </a:xfrm>
          <a:prstGeom prst="ellipse">
            <a:avLst/>
          </a:prstGeom>
          <a:solidFill>
            <a:srgbClr val="DC2626">
              <a:alpha val="85000"/>
            </a:srgbClr>
          </a:solidFill>
          <a:ln w="12700">
            <a:solidFill>
              <a:srgbClr val="DC2626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32688" y="182880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Banking Error Docs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" y="2240280"/>
            <a:ext cx="3767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Maps every error code to root causes, severity levels, and standard resolution steps across all pipeline types.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1737360"/>
            <a:ext cx="4114800" cy="13533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737360"/>
            <a:ext cx="109728" cy="135331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Shape 13"/>
          <p:cNvSpPr/>
          <p:nvPr/>
        </p:nvSpPr>
        <p:spPr>
          <a:xfrm>
            <a:off x="4892040" y="1828800"/>
            <a:ext cx="384048" cy="384048"/>
          </a:xfrm>
          <a:prstGeom prst="ellipse">
            <a:avLst/>
          </a:prstGeom>
          <a:solidFill>
            <a:srgbClr val="D97706">
              <a:alpha val="85000"/>
            </a:srgbClr>
          </a:solidFill>
          <a:ln w="12700">
            <a:solidFill>
              <a:srgbClr val="D97706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67528" y="182880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Internal Runbook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10328" y="2240280"/>
            <a:ext cx="3767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Team-specific step-by-step procedures for DLQ management, ETL recovery, API timeouts, and escalation paths.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246120"/>
            <a:ext cx="4114800" cy="13533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246120"/>
            <a:ext cx="109728" cy="1353312"/>
          </a:xfrm>
          <a:prstGeom prst="rect">
            <a:avLst/>
          </a:prstGeom>
          <a:solidFill>
            <a:srgbClr val="1346A3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337560"/>
            <a:ext cx="384048" cy="384048"/>
          </a:xfrm>
          <a:prstGeom prst="ellipse">
            <a:avLst/>
          </a:prstGeom>
          <a:solidFill>
            <a:srgbClr val="1346A3">
              <a:alpha val="85000"/>
            </a:srgbClr>
          </a:solidFill>
          <a:ln w="12700">
            <a:solidFill>
              <a:srgbClr val="1346A3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46A3"/>
                </a:solidFill>
              </a:rPr>
              <a:t>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32688" y="33375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Incident History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" y="3749040"/>
            <a:ext cx="3767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Pattern library of past incidents — Monday spikes, month-end overloads, database lock cascades — timestamped.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3246120"/>
            <a:ext cx="4114800" cy="13533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246120"/>
            <a:ext cx="109728" cy="135331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Shape 25"/>
          <p:cNvSpPr/>
          <p:nvPr/>
        </p:nvSpPr>
        <p:spPr>
          <a:xfrm>
            <a:off x="4892040" y="3337560"/>
            <a:ext cx="384048" cy="384048"/>
          </a:xfrm>
          <a:prstGeom prst="ellipse">
            <a:avLst/>
          </a:prstGeom>
          <a:solidFill>
            <a:srgbClr val="059669">
              <a:alpha val="85000"/>
            </a:srgbClr>
          </a:solidFill>
          <a:ln w="12700">
            <a:solidFill>
              <a:srgbClr val="059669">
                <a:alpha val="8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04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67528" y="33375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Sample Metrics Data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10328" y="3749040"/>
            <a:ext cx="3767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Baselines for 'normal' vs 'critical' — what DLQ count, latency, and error rate look like at each severity.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46A3"/>
                </a:solidFill>
              </a:rPr>
              <a:t>⚡  Zero external cost: RAG engine built with cosine similarity — no paid vector DB required. Runs entirely in-browser.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20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100% Free — Cost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D8CFF"/>
                </a:solidFill>
              </a:rPr>
              <a:t>05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1920240" cy="1417320"/>
          </a:xfrm>
          <a:prstGeom prst="rect">
            <a:avLst/>
          </a:prstGeom>
          <a:solidFill>
            <a:srgbClr val="13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972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D8C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Infrastructure Cost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2176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Runs in browser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68880" y="1051560"/>
            <a:ext cx="1920240" cy="1417320"/>
          </a:xfrm>
          <a:prstGeom prst="rect">
            <a:avLst/>
          </a:prstGeom>
          <a:solidFill>
            <a:srgbClr val="13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0972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D8C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2468880" y="1828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Gemini Req/Min Free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468880" y="2176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Google AI Studio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1051560"/>
            <a:ext cx="1920240" cy="1417320"/>
          </a:xfrm>
          <a:prstGeom prst="rect">
            <a:avLst/>
          </a:prstGeom>
          <a:solidFill>
            <a:srgbClr val="13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10972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D8C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4572000" y="1828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Knowledge Sources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0" y="2176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Embedded in-app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675120" y="1051560"/>
            <a:ext cx="1920240" cy="1417320"/>
          </a:xfrm>
          <a:prstGeom prst="rect">
            <a:avLst/>
          </a:prstGeom>
          <a:solidFill>
            <a:srgbClr val="13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75120" y="10972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D8C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6675120" y="1828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Vector DB Licenses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675120" y="2176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Custom cosine engine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51760"/>
          <a:ext cx="8595360" cy="2331720"/>
        </p:xfrm>
        <a:graphic>
          <a:graphicData uri="http://schemas.openxmlformats.org/drawingml/2006/table">
            <a:tbl>
              <a:tblPr/>
              <a:tblGrid>
                <a:gridCol w="2011680"/>
                <a:gridCol w="4754880"/>
                <a:gridCol w="182880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6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Free Tool Used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6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6A3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AI Brain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Gemini 1.5 Flash — Google AI Studio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</a:rPr>
                        <a:t>$0 / month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RAG Engine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Cosine similarity — custom built in-app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</a:rPr>
                        <a:t>$0 / month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Knowledge Base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Embedded JS objects — zero storage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</a:rPr>
                        <a:t>$0 / month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Vector Search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In-memory indexing — no Pinecone/Weaviate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</a:rPr>
                        <a:t>$0 / month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Hosting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Browser-based — no server required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</a:rPr>
                        <a:t>$0 / month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🔴  Security Concerns — Frontend AI in Banking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CA5A5"/>
                </a:solidFill>
              </a:rPr>
              <a:t>06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8595360" cy="41148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241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F1D1D"/>
                </a:solidFill>
              </a:rPr>
              <a:t>⚠️  Calling AI APIs directly from the browser exposes API keys and transmits sensitive banking data over the public internet — a critical compliance risk.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85953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572768"/>
            <a:ext cx="91440" cy="5669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709928"/>
            <a:ext cx="914400" cy="274320"/>
          </a:xfrm>
          <a:prstGeom prst="rect">
            <a:avLst/>
          </a:prstGeom>
          <a:solidFill>
            <a:srgbClr val="D97706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099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08760" y="16276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API Key Exposed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08760" y="1883664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Visible in browser DevTools → stolen, quota abused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212848"/>
            <a:ext cx="85953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212848"/>
            <a:ext cx="91440" cy="5669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350008"/>
            <a:ext cx="914400" cy="274320"/>
          </a:xfrm>
          <a:prstGeom prst="rect">
            <a:avLst/>
          </a:prstGeom>
          <a:solidFill>
            <a:srgbClr val="DC2626">
              <a:alpha val="8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3500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CRITICAL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508760" y="22677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Sensitive Data Leak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08760" y="2523744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Error messages, pipeline names, DB shards sent to Google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852928"/>
            <a:ext cx="85953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52928"/>
            <a:ext cx="91440" cy="5669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2990088"/>
            <a:ext cx="914400" cy="274320"/>
          </a:xfrm>
          <a:prstGeom prst="rect">
            <a:avLst/>
          </a:prstGeom>
          <a:solidFill>
            <a:srgbClr val="D97706">
              <a:alpha val="8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990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508760" y="29077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No Data Residency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508760" y="3163824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Google may process/log data on any global server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493008"/>
            <a:ext cx="85953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493008"/>
            <a:ext cx="91440" cy="566928"/>
          </a:xfrm>
          <a:prstGeom prst="rect">
            <a:avLst/>
          </a:prstGeom>
          <a:solidFill>
            <a:srgbClr val="1346A3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3630168"/>
            <a:ext cx="914400" cy="274320"/>
          </a:xfrm>
          <a:prstGeom prst="rect">
            <a:avLst/>
          </a:prstGeom>
          <a:solidFill>
            <a:srgbClr val="1346A3">
              <a:alpha val="8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630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MEDIUM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508760" y="35478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Prompt Injection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508760" y="3803904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Attacker manipulates AI via malicious chat input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133088"/>
            <a:ext cx="85953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4133088"/>
            <a:ext cx="91440" cy="5669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4270248"/>
            <a:ext cx="914400" cy="274320"/>
          </a:xfrm>
          <a:prstGeom prst="rect">
            <a:avLst/>
          </a:prstGeom>
          <a:solidFill>
            <a:srgbClr val="DC2626">
              <a:alpha val="8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270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CRITICAL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508760" y="41879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Compliance Violation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508760" y="4443984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PCI-DSS, RBI, GDPR forbid sending financial data to public AI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20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Production Fix — 3 Security Levels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D8CFF"/>
                </a:solidFill>
              </a:rPr>
              <a:t>07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743200" cy="3931920"/>
          </a:xfrm>
          <a:prstGeom prst="rect">
            <a:avLst/>
          </a:prstGeom>
          <a:solidFill>
            <a:srgbClr val="13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274320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143000"/>
            <a:ext cx="822960" cy="256032"/>
          </a:xfrm>
          <a:prstGeom prst="rect">
            <a:avLst/>
          </a:prstGeom>
          <a:solidFill>
            <a:srgbClr val="D97706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430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Level 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280160" y="1143000"/>
            <a:ext cx="1554480" cy="256032"/>
          </a:xfrm>
          <a:prstGeom prst="rect">
            <a:avLst/>
          </a:prstGeom>
          <a:solidFill>
            <a:srgbClr val="D97706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1430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Dev / Testing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4813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Backend Proxy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1920240"/>
            <a:ext cx="2468880" cy="475488"/>
          </a:xfrm>
          <a:prstGeom prst="rect">
            <a:avLst/>
          </a:prstGeom>
          <a:solidFill>
            <a:srgbClr val="0D1B35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920240"/>
            <a:ext cx="24688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97706"/>
                </a:solidFill>
              </a:rPr>
              <a:t>Browser → Your Backend → Gemini API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25146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API key lives on server — never exposed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0815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Sanitize data before sending to Gemini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364845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Still sends data to Google — dev use only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72968" y="1005840"/>
            <a:ext cx="2743200" cy="3931920"/>
          </a:xfrm>
          <a:prstGeom prst="rect">
            <a:avLst/>
          </a:prstGeom>
          <a:solidFill>
            <a:srgbClr val="13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72968" y="1005840"/>
            <a:ext cx="274320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Shape 17"/>
          <p:cNvSpPr/>
          <p:nvPr/>
        </p:nvSpPr>
        <p:spPr>
          <a:xfrm>
            <a:off x="3310128" y="1143000"/>
            <a:ext cx="822960" cy="256032"/>
          </a:xfrm>
          <a:prstGeom prst="rect">
            <a:avLst/>
          </a:prstGeom>
          <a:solidFill>
            <a:srgbClr val="059669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310128" y="11430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Level 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24528" y="1143000"/>
            <a:ext cx="1554480" cy="256032"/>
          </a:xfrm>
          <a:prstGeom prst="rect">
            <a:avLst/>
          </a:prstGeom>
          <a:solidFill>
            <a:srgbClr val="059669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224528" y="11430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Production Safe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310128" y="14813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 Masking Layer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310128" y="1920240"/>
            <a:ext cx="2468880" cy="475488"/>
          </a:xfrm>
          <a:prstGeom prst="rect">
            <a:avLst/>
          </a:prstGeom>
          <a:solidFill>
            <a:srgbClr val="0D1B35"/>
          </a:solidFill>
          <a:ln/>
        </p:spPr>
      </p:sp>
      <p:sp>
        <p:nvSpPr>
          <p:cNvPr id="25" name="Text 23"/>
          <p:cNvSpPr/>
          <p:nvPr/>
        </p:nvSpPr>
        <p:spPr>
          <a:xfrm>
            <a:off x="3310128" y="1920240"/>
            <a:ext cx="24688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59669"/>
                </a:solidFill>
              </a:rPr>
              <a:t>Browser → Backend + Data Anonymizer → Gemini API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10128" y="25146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Send only error type (ETL_TIMEOUT), never raw values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10128" y="30815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Strip account IDs, mask amounts, remove PII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10128" y="364845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Google receives zero identifiable banking data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17336" y="1005840"/>
            <a:ext cx="2743200" cy="3931920"/>
          </a:xfrm>
          <a:prstGeom prst="rect">
            <a:avLst/>
          </a:prstGeom>
          <a:solidFill>
            <a:srgbClr val="13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17336" y="1005840"/>
            <a:ext cx="2743200" cy="73152"/>
          </a:xfrm>
          <a:prstGeom prst="rect">
            <a:avLst/>
          </a:prstGeom>
          <a:solidFill>
            <a:srgbClr val="2D8CFF"/>
          </a:solidFill>
          <a:ln/>
        </p:spPr>
      </p:sp>
      <p:sp>
        <p:nvSpPr>
          <p:cNvPr id="31" name="Shape 29"/>
          <p:cNvSpPr/>
          <p:nvPr/>
        </p:nvSpPr>
        <p:spPr>
          <a:xfrm>
            <a:off x="6254496" y="1143000"/>
            <a:ext cx="822960" cy="256032"/>
          </a:xfrm>
          <a:prstGeom prst="rect">
            <a:avLst/>
          </a:prstGeom>
          <a:solidFill>
            <a:srgbClr val="2D8CFF">
              <a:alpha val="8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254496" y="11430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8CFF"/>
                </a:solidFill>
              </a:rPr>
              <a:t>Level 3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168896" y="1143000"/>
            <a:ext cx="1554480" cy="256032"/>
          </a:xfrm>
          <a:prstGeom prst="rect">
            <a:avLst/>
          </a:prstGeom>
          <a:solidFill>
            <a:srgbClr val="2D8CFF">
              <a:alpha val="8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7168896" y="11430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D8CFF"/>
                </a:solidFill>
              </a:rPr>
              <a:t>Enterprise / Recommended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254496" y="14813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Fully Private (Local LLM)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254496" y="1920240"/>
            <a:ext cx="2468880" cy="475488"/>
          </a:xfrm>
          <a:prstGeom prst="rect">
            <a:avLst/>
          </a:prstGeom>
          <a:solidFill>
            <a:srgbClr val="0D1B35"/>
          </a:solidFill>
          <a:ln/>
        </p:spPr>
      </p:sp>
      <p:sp>
        <p:nvSpPr>
          <p:cNvPr id="37" name="Text 35"/>
          <p:cNvSpPr/>
          <p:nvPr/>
        </p:nvSpPr>
        <p:spPr>
          <a:xfrm>
            <a:off x="6254496" y="1920240"/>
            <a:ext cx="24688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2D8CFF"/>
                </a:solidFill>
              </a:rPr>
              <a:t>Your App → Ollama + LLaMA 3 (On-Premise Server)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254496" y="25146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8CFF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Data never leaves your network — zero internet egress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54496" y="30815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8CFF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RBI, PCI-DSS, GDPR compliant by design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54496" y="364845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8CFF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Free: Ollama is open-source and self-hosted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28600" y="4663440"/>
            <a:ext cx="8686800" cy="365760"/>
          </a:xfrm>
          <a:prstGeom prst="rect">
            <a:avLst/>
          </a:prstGeom>
          <a:solidFill>
            <a:srgbClr val="082032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8CFF"/>
                </a:solidFill>
              </a:rPr>
              <a:t>🏦  Our Recommendation for Banking Production:  Level 2 (data masking) for quick deployment  |  Level 3 (Ollama) for full compliance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Deployment Options — Full Comparison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D8CFF"/>
                </a:solidFill>
              </a:rPr>
              <a:t>08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3931920"/>
        </p:xfrm>
        <a:graphic>
          <a:graphicData uri="http://schemas.openxmlformats.org/drawingml/2006/table">
            <a:tbl>
              <a:tblPr/>
              <a:tblGrid>
                <a:gridCol w="2103120"/>
                <a:gridCol w="822960"/>
                <a:gridCol w="1188720"/>
                <a:gridCol w="1188720"/>
                <a:gridCol w="1188720"/>
                <a:gridCol w="2103120"/>
              </a:tblGrid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Option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6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6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Data Privacy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6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Compliance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6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Setup Effort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6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Recommended For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6A3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Gemini (Browser Direct)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$0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</a:rPr>
                        <a:t>⛔ Low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</a:rPr>
                        <a:t>⛔ Fails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⭐ Easy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Dev / Demo only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Gemini + Backend Proxy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$0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2400E"/>
                          </a:solidFill>
                        </a:rPr>
                        <a:t>🟡 Medium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2400E"/>
                          </a:solidFill>
                        </a:rPr>
                        <a:t>🟡 Partial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⭐⭐ Easy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Internal tools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Gemini + Data Masking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$0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6534"/>
                          </a:solidFill>
                        </a:rPr>
                        <a:t>✅ Good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6534"/>
                          </a:solidFill>
                        </a:rPr>
                        <a:t>✅ Partial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⭐⭐ Med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Production apps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Google Vertex AI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Paid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6534"/>
                          </a:solidFill>
                        </a:rPr>
                        <a:t>✅ High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6534"/>
                          </a:solidFill>
                        </a:rPr>
                        <a:t>✅ Strong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⭐⭐ Med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Enterprise Google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Ollama + LLaMA 3 Local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$0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✅ Perfect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✅ Full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⭐⭐⭐ Hard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Banking / Finance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Azure OpenAI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Paid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6534"/>
                          </a:solidFill>
                        </a:rPr>
                        <a:t>✅ High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6534"/>
                          </a:solidFill>
                        </a:rPr>
                        <a:t>✅ GDPR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⭐⭐ Med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Azure-stack orgs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709160"/>
            <a:ext cx="8595360" cy="292608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709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</a:rPr>
              <a:t>★  Highlighted row (Ollama + LLaMA 3) is our recommended production path for regulated banking environments.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20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Technology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D8CFF"/>
                </a:solidFill>
              </a:rPr>
              <a:t>09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88920" cy="1755648"/>
          </a:xfrm>
          <a:prstGeom prst="rect">
            <a:avLst/>
          </a:prstGeom>
          <a:solidFill>
            <a:srgbClr val="13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788920" cy="347472"/>
          </a:xfrm>
          <a:prstGeom prst="rect">
            <a:avLst/>
          </a:prstGeom>
          <a:solidFill>
            <a:srgbClr val="2D8CFF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0515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8CFF"/>
                </a:solidFill>
              </a:rPr>
              <a:t>AI Model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4630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8CFF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Gemini 1.5 Flash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18745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8CFF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Google AI Studio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22860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8CFF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Anthropic Sonnet 4 (optional)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18688" y="1051560"/>
            <a:ext cx="2788920" cy="1755648"/>
          </a:xfrm>
          <a:prstGeom prst="rect">
            <a:avLst/>
          </a:prstGeom>
          <a:solidFill>
            <a:srgbClr val="13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1051560"/>
            <a:ext cx="2788920" cy="347472"/>
          </a:xfrm>
          <a:prstGeom prst="rect">
            <a:avLst/>
          </a:prstGeom>
          <a:solidFill>
            <a:srgbClr val="0EA5E9">
              <a:alpha val="8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328416" y="10515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RAG Engine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28416" y="14630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A5E9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Custom Cosine Similarity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28416" y="18745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A5E9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TF-IDF Vectorization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28416" y="22860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A5E9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In-Memory Index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63056" y="1051560"/>
            <a:ext cx="2788920" cy="1755648"/>
          </a:xfrm>
          <a:prstGeom prst="rect">
            <a:avLst/>
          </a:prstGeom>
          <a:solidFill>
            <a:srgbClr val="13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63056" y="1051560"/>
            <a:ext cx="2788920" cy="347472"/>
          </a:xfrm>
          <a:prstGeom prst="rect">
            <a:avLst/>
          </a:prstGeom>
          <a:solidFill>
            <a:srgbClr val="1346A3">
              <a:alpha val="8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272784" y="10515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46A3"/>
                </a:solidFill>
              </a:rPr>
              <a:t>Frontend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72784" y="14630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46A3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React / Vanilla JS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72784" y="18745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46A3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Real-time WebSocket updates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72784" y="22860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46A3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Responsive Dashboard UI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2971800"/>
            <a:ext cx="2788920" cy="1755648"/>
          </a:xfrm>
          <a:prstGeom prst="rect">
            <a:avLst/>
          </a:prstGeom>
          <a:solidFill>
            <a:srgbClr val="13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971800"/>
            <a:ext cx="2788920" cy="347472"/>
          </a:xfrm>
          <a:prstGeom prst="rect">
            <a:avLst/>
          </a:prstGeom>
          <a:solidFill>
            <a:srgbClr val="D97706">
              <a:alpha val="8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" y="29718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Backend (Prod)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4048" y="33832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7706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Node.js / Express Proxy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84048" y="37947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7706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Data Masking Middleware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84048" y="42062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7706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Rate Limiter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18688" y="2971800"/>
            <a:ext cx="2788920" cy="1755648"/>
          </a:xfrm>
          <a:prstGeom prst="rect">
            <a:avLst/>
          </a:prstGeom>
          <a:solidFill>
            <a:srgbClr val="13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18688" y="2971800"/>
            <a:ext cx="2788920" cy="347472"/>
          </a:xfrm>
          <a:prstGeom prst="rect">
            <a:avLst/>
          </a:prstGeom>
          <a:solidFill>
            <a:srgbClr val="059669">
              <a:alpha val="8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328416" y="29718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Privacy (Prod)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28416" y="33832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69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Ollama + LLaMA 3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328416" y="37947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69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Zero internet egress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328416" y="42062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69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On-premise deployment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63056" y="2971800"/>
            <a:ext cx="2788920" cy="1755648"/>
          </a:xfrm>
          <a:prstGeom prst="rect">
            <a:avLst/>
          </a:prstGeom>
          <a:solidFill>
            <a:srgbClr val="13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63056" y="2971800"/>
            <a:ext cx="2788920" cy="347472"/>
          </a:xfrm>
          <a:prstGeom prst="rect">
            <a:avLst/>
          </a:prstGeom>
          <a:solidFill>
            <a:srgbClr val="A855F7">
              <a:alpha val="8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272784" y="29718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</a:rPr>
              <a:t>Compliance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72784" y="33832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55F7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PCI-DSS patterns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72784" y="37947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55F7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RBI guideline alignment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272784" y="42062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55F7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GDPR data handling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Production Roadmap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D8CFF"/>
                </a:solidFill>
              </a:rPr>
              <a:t>10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487168"/>
            <a:ext cx="8229600" cy="64008"/>
          </a:xfrm>
          <a:prstGeom prst="rect">
            <a:avLst/>
          </a:prstGeom>
          <a:solidFill>
            <a:srgbClr val="94A3B8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2377440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05840"/>
            <a:ext cx="20574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05840"/>
            <a:ext cx="2057400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097280"/>
            <a:ext cx="749808" cy="228600"/>
          </a:xfrm>
          <a:prstGeom prst="rect">
            <a:avLst/>
          </a:prstGeom>
          <a:solidFill>
            <a:srgbClr val="059669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097280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Phase 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88720" y="10972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Week 1–2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135331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MVP (Current State)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788920"/>
            <a:ext cx="205740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048" y="28346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●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Browser-based RAG + Gemini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" y="332841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●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4 knowledge sources active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" y="382219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●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Dashboard + Chat + Predict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431596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●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Demo-ready for stakeholders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27832" y="2377440"/>
            <a:ext cx="274320" cy="2743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50592" y="1005840"/>
            <a:ext cx="20574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450592" y="1005840"/>
            <a:ext cx="2057400" cy="64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Shape 19"/>
          <p:cNvSpPr/>
          <p:nvPr/>
        </p:nvSpPr>
        <p:spPr>
          <a:xfrm>
            <a:off x="2542032" y="1097280"/>
            <a:ext cx="749808" cy="228600"/>
          </a:xfrm>
          <a:prstGeom prst="rect">
            <a:avLst/>
          </a:prstGeom>
          <a:solidFill>
            <a:srgbClr val="D97706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2542032" y="1097280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Phase 2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364992" y="10972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Week 3–4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542032" y="135331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Production Security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450592" y="2788920"/>
            <a:ext cx="205740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560320" y="28346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●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Backend proxy layer (Node.js)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60320" y="332841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●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Data masking middleware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560320" y="382219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●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API key secured server-side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560320" y="431596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●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PCI-DSS basic compliance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04104" y="2377440"/>
            <a:ext cx="274320" cy="274320"/>
          </a:xfrm>
          <a:prstGeom prst="ellipse">
            <a:avLst/>
          </a:prstGeom>
          <a:solidFill>
            <a:srgbClr val="1346A3"/>
          </a:solidFill>
          <a:ln w="12700">
            <a:solidFill>
              <a:srgbClr val="1346A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26864" y="1005840"/>
            <a:ext cx="20574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26864" y="1005840"/>
            <a:ext cx="2057400" cy="64008"/>
          </a:xfrm>
          <a:prstGeom prst="rect">
            <a:avLst/>
          </a:prstGeom>
          <a:solidFill>
            <a:srgbClr val="1346A3"/>
          </a:solidFill>
          <a:ln/>
        </p:spPr>
      </p:sp>
      <p:sp>
        <p:nvSpPr>
          <p:cNvPr id="33" name="Shape 31"/>
          <p:cNvSpPr/>
          <p:nvPr/>
        </p:nvSpPr>
        <p:spPr>
          <a:xfrm>
            <a:off x="4718304" y="1097280"/>
            <a:ext cx="749808" cy="228600"/>
          </a:xfrm>
          <a:prstGeom prst="rect">
            <a:avLst/>
          </a:prstGeom>
          <a:solidFill>
            <a:srgbClr val="1346A3">
              <a:alpha val="8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718304" y="1097280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46A3"/>
                </a:solidFill>
              </a:rPr>
              <a:t>Phase 3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541264" y="10972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Month 2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18304" y="135331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Enterprise Deployment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626864" y="2788920"/>
            <a:ext cx="205740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736592" y="28346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46A3"/>
                </a:solidFill>
              </a:rPr>
              <a:t>●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Ollama + LLaMA 3 on-premise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36592" y="332841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46A3"/>
                </a:solidFill>
              </a:rPr>
              <a:t>●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Upload real runbooks via UI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36592" y="382219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46A3"/>
                </a:solidFill>
              </a:rPr>
              <a:t>●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Full RBI &amp; GDPR compliance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36592" y="431596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46A3"/>
                </a:solidFill>
              </a:rPr>
              <a:t>●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Audit logging + access control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580376" y="2377440"/>
            <a:ext cx="274320" cy="27432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03136" y="1005840"/>
            <a:ext cx="20574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803136" y="1005840"/>
            <a:ext cx="2057400" cy="640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5" name="Shape 43"/>
          <p:cNvSpPr/>
          <p:nvPr/>
        </p:nvSpPr>
        <p:spPr>
          <a:xfrm>
            <a:off x="6894576" y="1097280"/>
            <a:ext cx="749808" cy="228600"/>
          </a:xfrm>
          <a:prstGeom prst="rect">
            <a:avLst/>
          </a:prstGeom>
          <a:solidFill>
            <a:srgbClr val="A855F7">
              <a:alpha val="8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894576" y="1097280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55F7"/>
                </a:solidFill>
              </a:rPr>
              <a:t>Phase 4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717536" y="10972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Month 3+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894576" y="135331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Scale &amp; Intelligence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803136" y="2788920"/>
            <a:ext cx="205740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912864" y="28346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</a:rPr>
              <a:t>●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Multi-bank multi-tenant support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912864" y="332841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</a:rPr>
              <a:t>●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Custom model fine-tuning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912864" y="382219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</a:rPr>
              <a:t>●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Real-time alert integrations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912864" y="431596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</a:rPr>
              <a:t>●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SLA breach prediction engine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5029200" cy="5029200"/>
          </a:xfrm>
          <a:prstGeom prst="ellipse">
            <a:avLst/>
          </a:prstGeom>
          <a:solidFill>
            <a:srgbClr val="1346A3">
              <a:alpha val="18000"/>
            </a:srgbClr>
          </a:solidFill>
          <a:ln w="12700">
            <a:solidFill>
              <a:srgbClr val="1346A3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82880"/>
            <a:ext cx="3200400" cy="3200400"/>
          </a:xfrm>
          <a:prstGeom prst="ellipse">
            <a:avLst/>
          </a:prstGeom>
          <a:solidFill>
            <a:srgbClr val="2D8CFF">
              <a:alpha val="15000"/>
            </a:srgbClr>
          </a:solidFill>
          <a:ln w="12700">
            <a:solidFill>
              <a:srgbClr val="2D8C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8C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7315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D8CFF"/>
                </a:solidFill>
              </a:rPr>
              <a:t>Built for Production. Designed for Banking.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8CFF"/>
                </a:solidFill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RAG + Gemini — fully functional, zero cost to run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89864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8CFF"/>
                </a:solidFill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3-level security path from demo to enterprise deployment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374136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8CFF"/>
                </a:solidFill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Compliance-ready architecture for RBI, PCI-DSS, GDPR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64592" y="4709160"/>
            <a:ext cx="8979408" cy="434340"/>
          </a:xfrm>
          <a:prstGeom prst="rect">
            <a:avLst/>
          </a:prstGeom>
          <a:solidFill>
            <a:srgbClr val="13204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RAG + Gemini AI Agent  |  Banking Operations Intelligence  |  GlobalLogic Presentation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0" y="4709160"/>
            <a:ext cx="210312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D8CFF"/>
                </a:solidFill>
              </a:rPr>
              <a:t>Questions?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+ Gemini AI Agent — Banking Operations</dc:title>
  <dc:subject>PptxGenJS Presentation</dc:subject>
  <dc:creator>PptxGenJS</dc:creator>
  <cp:lastModifiedBy>PptxGenJS</cp:lastModifiedBy>
  <cp:revision>1</cp:revision>
  <dcterms:created xsi:type="dcterms:W3CDTF">2026-06-06T09:02:27Z</dcterms:created>
  <dcterms:modified xsi:type="dcterms:W3CDTF">2026-06-06T09:02:27Z</dcterms:modified>
</cp:coreProperties>
</file>